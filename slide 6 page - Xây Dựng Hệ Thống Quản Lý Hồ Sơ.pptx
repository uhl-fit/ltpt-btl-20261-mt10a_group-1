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26" r:id="rId4"/>
  </p:sldMasterIdLst>
  <p:notesMasterIdLst>
    <p:notesMasterId r:id="rId11"/>
  </p:notesMasterIdLst>
  <p:handoutMasterIdLst>
    <p:handoutMasterId r:id="rId12"/>
  </p:handoutMasterIdLst>
  <p:sldIdLst>
    <p:sldId id="1497" r:id="rId5"/>
    <p:sldId id="1514" r:id="rId6"/>
    <p:sldId id="1519" r:id="rId7"/>
    <p:sldId id="1520" r:id="rId8"/>
    <p:sldId id="1521" r:id="rId9"/>
    <p:sldId id="1522" r:id="rId10"/>
  </p:sldIdLst>
  <p:sldSz cx="12192000" cy="6858000"/>
  <p:notesSz cx="6858000" cy="9144000"/>
  <p:embeddedFontLst>
    <p:embeddedFont>
      <p:font typeface="FS PF BeauSans Pro" panose="02000500000000020004" pitchFamily="2" charset="0"/>
      <p:regular r:id="rId13"/>
    </p:embeddedFont>
    <p:embeddedFont>
      <p:font typeface="Lora" pitchFamily="2" charset="0"/>
      <p:regular r:id="rId14"/>
      <p:italic r:id="rId15"/>
    </p:embeddedFont>
    <p:embeddedFont>
      <p:font typeface="Playfair Display Black" panose="00000A00000000000000" pitchFamily="2" charset="0"/>
      <p:bold r:id="rId16"/>
      <p:boldItalic r:id="rId17"/>
    </p:embeddedFont>
    <p:embeddedFont>
      <p:font typeface="Poppins Light" panose="00000400000000000000" pitchFamily="2" charset="0"/>
      <p:regular r:id="rId18"/>
      <p: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079" autoAdjust="0"/>
  </p:normalViewPr>
  <p:slideViewPr>
    <p:cSldViewPr snapToGrid="0">
      <p:cViewPr varScale="1">
        <p:scale>
          <a:sx n="65" d="100"/>
          <a:sy n="65" d="100"/>
        </p:scale>
        <p:origin x="1086" y="60"/>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6/8/2026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6/8/2026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6/8/2026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6/8/2026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6/8/2026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6/8/2026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6/8/2026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6/8/2026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6/8/2026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6/8/2026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6/8/2026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6/8/2026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6/8/2026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6/8/2026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6/8/2026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6/8/2026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6/8/2026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6/8/2026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6/8/2026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6/8/2026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6/8/2026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6/8/2026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6/8/2026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6/8/2026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6/8/2026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6/8/2026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6/8/2026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6/8/2026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6/8/2026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6/8/2026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6/8/2026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6/8/2026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6/8/2026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481088"/>
            <a:ext cx="8686801" cy="2565902"/>
          </a:xfrm>
        </p:spPr>
        <p:txBody>
          <a:bodyPr>
            <a:noAutofit/>
          </a:bodyPr>
          <a:lstStyle/>
          <a:p>
            <a:r>
              <a:rPr lang="en-US" sz="4400"/>
              <a:t>Xây Dựng Hệ Thống Quản Lý Hồ Sơ Bệnh Nhân Sử Dụng Python và Mô Hình Kiến Trúc MVC</a:t>
            </a:r>
            <a:endParaRPr lang="en-US" sz="4400" dirty="0"/>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442343" y="1036459"/>
            <a:ext cx="4605531" cy="1161310"/>
          </a:xfrm>
        </p:spPr>
        <p:txBody>
          <a:bodyPr>
            <a:noAutofit/>
          </a:bodyPr>
          <a:lstStyle/>
          <a:p>
            <a:r>
              <a:rPr lang="en-US" sz="1800" b="1">
                <a:latin typeface="FS PF BeauSans Pro" panose="02000500000000020004" pitchFamily="2" charset="0"/>
                <a:ea typeface="SRN CookieRun" panose="020B0600000101010101" pitchFamily="34" charset="-127"/>
              </a:rPr>
              <a:t>Nhóm: MT10A – Group 1 </a:t>
            </a:r>
            <a:br>
              <a:rPr lang="en-US" sz="1800" b="1">
                <a:latin typeface="FS PF BeauSans Pro" panose="02000500000000020004" pitchFamily="2" charset="0"/>
                <a:ea typeface="SRN CookieRun" panose="020B0600000101010101" pitchFamily="34" charset="-127"/>
              </a:rPr>
            </a:br>
            <a:r>
              <a:rPr lang="en-US" sz="1800" b="1">
                <a:latin typeface="FS PF BeauSans Pro" panose="02000500000000020004" pitchFamily="2" charset="0"/>
                <a:ea typeface="SRN CookieRun" panose="020B0600000101010101" pitchFamily="34" charset="-127"/>
              </a:rPr>
              <a:t>Giảng viên hướng dẫn: [Tên giảng viên] </a:t>
            </a:r>
            <a:br>
              <a:rPr lang="en-US" sz="1800" b="1">
                <a:latin typeface="FS PF BeauSans Pro" panose="02000500000000020004" pitchFamily="2" charset="0"/>
                <a:ea typeface="SRN CookieRun" panose="020B0600000101010101" pitchFamily="34" charset="-127"/>
              </a:rPr>
            </a:br>
            <a:r>
              <a:rPr lang="en-US" sz="1800" b="1">
                <a:latin typeface="FS PF BeauSans Pro" panose="02000500000000020004" pitchFamily="2" charset="0"/>
                <a:ea typeface="SRN CookieRun" panose="020B0600000101010101" pitchFamily="34" charset="-127"/>
              </a:rPr>
              <a:t>Năm học: 2025 – 2026</a:t>
            </a:r>
            <a:endParaRPr lang="en-US" sz="1800" b="1" dirty="0">
              <a:latin typeface="FS PF BeauSans Pro" panose="02000500000000020004" pitchFamily="2" charset="0"/>
              <a:ea typeface="SRN CookieRun" panose="020B0600000101010101" pitchFamily="34" charset="-127"/>
            </a:endParaRPr>
          </a:p>
        </p:txBody>
      </p:sp>
    </p:spTree>
    <p:extLst>
      <p:ext uri="{BB962C8B-B14F-4D97-AF65-F5344CB8AC3E}">
        <p14:creationId xmlns:p14="http://schemas.microsoft.com/office/powerpoint/2010/main" val="17738313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907662" y="907302"/>
            <a:ext cx="6792548" cy="696909"/>
          </a:xfrm>
        </p:spPr>
        <p:txBody>
          <a:bodyPr/>
          <a:lstStyle/>
          <a:p>
            <a:r>
              <a:rPr lang="en-US" sz="4000"/>
              <a:t>Tổng Quan Đề Tài</a:t>
            </a:r>
            <a:endParaRPr lang="en-US" sz="4000" dirty="0"/>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859536" y="1909011"/>
            <a:ext cx="10257643" cy="4363452"/>
          </a:xfrm>
        </p:spPr>
        <p:txBody>
          <a:bodyPr>
            <a:normAutofit fontScale="92500" lnSpcReduction="20000"/>
          </a:bodyPr>
          <a:lstStyle/>
          <a:p>
            <a:pPr marL="0" indent="0">
              <a:buNone/>
            </a:pPr>
            <a:r>
              <a:rPr lang="en-US" sz="2000" b="1">
                <a:latin typeface="FS PF BeauSans Pro" panose="02000500000000020004" pitchFamily="2" charset="0"/>
              </a:rPr>
              <a:t>Vấn đề đặt ra:</a:t>
            </a:r>
            <a:br>
              <a:rPr lang="en-US" sz="2000" b="1">
                <a:latin typeface="FS PF BeauSans Pro" panose="02000500000000020004" pitchFamily="2" charset="0"/>
              </a:rPr>
            </a:br>
            <a:r>
              <a:rPr lang="en-US" sz="1800">
                <a:latin typeface="FS PF BeauSans Pro" panose="02000500000000020004" pitchFamily="2" charset="0"/>
              </a:rPr>
              <a:t>Các phòng khám nhỏ vẫn quản lý hồ sơ bệnh nhân thủ công trên giấy tờ hoặc bảng tính đơn giản, dẫn đến mất thời gian tra cứu, dễ thất lạc dữ liệu và không thể thống kê hiệu quả.</a:t>
            </a:r>
          </a:p>
          <a:p>
            <a:pPr marL="0" indent="0">
              <a:buNone/>
            </a:pPr>
            <a:r>
              <a:rPr lang="en-US" sz="2400" b="1">
                <a:latin typeface="FS PF BeauSans Pro" panose="02000500000000020004" pitchFamily="2" charset="0"/>
              </a:rPr>
              <a:t>Mục tiêu:</a:t>
            </a:r>
            <a:br>
              <a:rPr lang="en-US" sz="2400" b="1">
                <a:latin typeface="FS PF BeauSans Pro" panose="02000500000000020004" pitchFamily="2" charset="0"/>
              </a:rPr>
            </a:br>
            <a:r>
              <a:rPr lang="en-US" sz="1800">
                <a:latin typeface="FS PF BeauSans Pro" panose="02000500000000020004" pitchFamily="2" charset="0"/>
              </a:rPr>
              <a:t>Xây dựng phần mềm desktop chạy offline, không cần máy chủ hay Internet, thân thiện với người dùng không có chuyên môn IT.</a:t>
            </a:r>
          </a:p>
          <a:p>
            <a:pPr marL="0" indent="0">
              <a:buNone/>
            </a:pPr>
            <a:r>
              <a:rPr lang="en-US" sz="2400" b="1">
                <a:latin typeface="FS PF BeauSans Pro" panose="02000500000000020004" pitchFamily="2" charset="0"/>
              </a:rPr>
              <a:t>Phạm vi:</a:t>
            </a:r>
            <a:br>
              <a:rPr lang="en-US" sz="2400" b="1">
                <a:latin typeface="FS PF BeauSans Pro" panose="02000500000000020004" pitchFamily="2" charset="0"/>
              </a:rPr>
            </a:br>
            <a:r>
              <a:rPr lang="en-US" sz="1800">
                <a:latin typeface="FS PF BeauSans Pro" panose="02000500000000020004" pitchFamily="2" charset="0"/>
              </a:rPr>
              <a:t>Ứng dụng phục vụ một phòng khám đơn lẻ, tập trung vào ba nghiệp vụ cốt lõi: Quản lý hồ sơ bệnh nhân – Thống kê báo cáo – Lịch tái khám</a:t>
            </a:r>
          </a:p>
          <a:p>
            <a:pPr marL="0" indent="0">
              <a:buNone/>
            </a:pPr>
            <a:r>
              <a:rPr lang="en-US" sz="2400" b="1">
                <a:latin typeface="FS PF BeauSans Pro" panose="02000500000000020004" pitchFamily="2" charset="0"/>
              </a:rPr>
              <a:t>Công nghệ sử dụng:</a:t>
            </a:r>
            <a:br>
              <a:rPr lang="en-US" sz="2400" b="1">
                <a:latin typeface="FS PF BeauSans Pro" panose="02000500000000020004" pitchFamily="2" charset="0"/>
              </a:rPr>
            </a:br>
            <a:r>
              <a:rPr lang="en-US" sz="1800">
                <a:latin typeface="FS PF BeauSans Pro" panose="02000500000000020004" pitchFamily="2" charset="0"/>
              </a:rPr>
              <a:t>Python 3.14 · Tkinter/ttk · SQLite3 · Matplotlib</a:t>
            </a:r>
          </a:p>
        </p:txBody>
      </p:sp>
    </p:spTree>
    <p:extLst>
      <p:ext uri="{BB962C8B-B14F-4D97-AF65-F5344CB8AC3E}">
        <p14:creationId xmlns:p14="http://schemas.microsoft.com/office/powerpoint/2010/main" val="20020218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92E40-E763-FECD-5D25-0CE21B3C4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FE869-2942-A6E6-1644-6DD8D311EDD7}"/>
              </a:ext>
            </a:extLst>
          </p:cNvPr>
          <p:cNvSpPr>
            <a:spLocks noGrp="1"/>
          </p:cNvSpPr>
          <p:nvPr>
            <p:ph type="title"/>
          </p:nvPr>
        </p:nvSpPr>
        <p:spPr>
          <a:xfrm>
            <a:off x="907661" y="907302"/>
            <a:ext cx="10770991" cy="696909"/>
          </a:xfrm>
        </p:spPr>
        <p:txBody>
          <a:bodyPr/>
          <a:lstStyle/>
          <a:p>
            <a:r>
              <a:rPr lang="en-US" sz="4000"/>
              <a:t>Kiến Trúc Hệ Thống – Mô Hình MVC</a:t>
            </a:r>
            <a:endParaRPr lang="en-US" sz="4000" dirty="0"/>
          </a:p>
        </p:txBody>
      </p:sp>
      <p:sp>
        <p:nvSpPr>
          <p:cNvPr id="3" name="Content Placeholder 2">
            <a:extLst>
              <a:ext uri="{FF2B5EF4-FFF2-40B4-BE49-F238E27FC236}">
                <a16:creationId xmlns:a16="http://schemas.microsoft.com/office/drawing/2014/main" id="{E34F082F-C941-1E1D-2BB6-526873C92757}"/>
              </a:ext>
            </a:extLst>
          </p:cNvPr>
          <p:cNvSpPr>
            <a:spLocks noGrp="1"/>
          </p:cNvSpPr>
          <p:nvPr>
            <p:ph sz="quarter" idx="14"/>
          </p:nvPr>
        </p:nvSpPr>
        <p:spPr>
          <a:xfrm>
            <a:off x="859536" y="1909011"/>
            <a:ext cx="10257643" cy="4363452"/>
          </a:xfrm>
        </p:spPr>
        <p:txBody>
          <a:bodyPr>
            <a:normAutofit/>
          </a:bodyPr>
          <a:lstStyle/>
          <a:p>
            <a:pPr marL="0" indent="0">
              <a:buNone/>
            </a:pPr>
            <a:r>
              <a:rPr lang="en-US" sz="2400" b="1">
                <a:latin typeface="FS PF BeauSans Pro" panose="02000500000000020004" pitchFamily="2" charset="0"/>
              </a:rPr>
              <a:t>Ứng dụng được xây dựng theo mô hình MVC gồm 3 tầng tách biệt:</a:t>
            </a:r>
          </a:p>
          <a:p>
            <a:r>
              <a:rPr lang="en-US" sz="2000">
                <a:latin typeface="FS PF BeauSans Pro" panose="02000500000000020004" pitchFamily="2" charset="0"/>
              </a:rPr>
              <a:t>Model: Quản lý toàn bộ dữ liệu, giao tiếp với cơ sở dữ liệu SQLite</a:t>
            </a:r>
          </a:p>
          <a:p>
            <a:r>
              <a:rPr lang="en-US" sz="2000">
                <a:latin typeface="FS PF BeauSans Pro" panose="02000500000000020004" pitchFamily="2" charset="0"/>
              </a:rPr>
              <a:t>View: Hiển thị giao diện, gồm 3 tab — Quản lý bệnh nhân, Thống kê, Lịch tái khám</a:t>
            </a:r>
          </a:p>
          <a:p>
            <a:r>
              <a:rPr lang="en-US" sz="2000">
                <a:latin typeface="FS PF BeauSans Pro" panose="02000500000000020004" pitchFamily="2" charset="0"/>
              </a:rPr>
              <a:t>Controller: Nhận sự kiện từ View, gọi Model xử lý, trả kết quả lại View</a:t>
            </a:r>
          </a:p>
          <a:p>
            <a:pPr marL="0" indent="0">
              <a:buNone/>
            </a:pPr>
            <a:r>
              <a:rPr lang="en-US" sz="2400" b="1">
                <a:latin typeface="FS PF BeauSans Pro" panose="02000500000000020004" pitchFamily="2" charset="0"/>
              </a:rPr>
              <a:t>Ngoài ra có 2 module hỗ trợ: </a:t>
            </a:r>
          </a:p>
          <a:p>
            <a:r>
              <a:rPr lang="en-US" sz="2000">
                <a:latin typeface="FS PF BeauSans Pro" panose="02000500000000020004" pitchFamily="2" charset="0"/>
              </a:rPr>
              <a:t>ThemeManager — quản lý chế độ giao diện sáng/tối </a:t>
            </a:r>
          </a:p>
          <a:p>
            <a:r>
              <a:rPr lang="en-US" sz="2000">
                <a:latin typeface="FS PF BeauSans Pro" panose="02000500000000020004" pitchFamily="2" charset="0"/>
              </a:rPr>
              <a:t>Helpers — xử lý tìm kiếm tiếng Việt không dấu</a:t>
            </a:r>
          </a:p>
        </p:txBody>
      </p:sp>
    </p:spTree>
    <p:extLst>
      <p:ext uri="{BB962C8B-B14F-4D97-AF65-F5344CB8AC3E}">
        <p14:creationId xmlns:p14="http://schemas.microsoft.com/office/powerpoint/2010/main" val="6478769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989DF-5FFD-3C62-70A7-015F9BEA6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79584-813E-791C-FD4C-55135EC73060}"/>
              </a:ext>
            </a:extLst>
          </p:cNvPr>
          <p:cNvSpPr>
            <a:spLocks noGrp="1"/>
          </p:cNvSpPr>
          <p:nvPr>
            <p:ph type="title"/>
          </p:nvPr>
        </p:nvSpPr>
        <p:spPr>
          <a:xfrm>
            <a:off x="907661" y="907302"/>
            <a:ext cx="10770991" cy="696909"/>
          </a:xfrm>
        </p:spPr>
        <p:txBody>
          <a:bodyPr/>
          <a:lstStyle/>
          <a:p>
            <a:r>
              <a:rPr lang="en-US" sz="4000"/>
              <a:t>CHỨC NĂNG CHÍNH</a:t>
            </a:r>
            <a:endParaRPr lang="en-US" sz="4000" dirty="0"/>
          </a:p>
        </p:txBody>
      </p:sp>
      <p:sp>
        <p:nvSpPr>
          <p:cNvPr id="3" name="Content Placeholder 2">
            <a:extLst>
              <a:ext uri="{FF2B5EF4-FFF2-40B4-BE49-F238E27FC236}">
                <a16:creationId xmlns:a16="http://schemas.microsoft.com/office/drawing/2014/main" id="{E5E512FF-66F8-F6DF-9832-2E79434B60EB}"/>
              </a:ext>
            </a:extLst>
          </p:cNvPr>
          <p:cNvSpPr>
            <a:spLocks noGrp="1"/>
          </p:cNvSpPr>
          <p:nvPr>
            <p:ph sz="quarter" idx="14"/>
          </p:nvPr>
        </p:nvSpPr>
        <p:spPr>
          <a:xfrm>
            <a:off x="859536" y="1909011"/>
            <a:ext cx="5781896" cy="4363452"/>
          </a:xfrm>
        </p:spPr>
        <p:txBody>
          <a:bodyPr>
            <a:normAutofit fontScale="85000" lnSpcReduction="20000"/>
          </a:bodyPr>
          <a:lstStyle/>
          <a:p>
            <a:pPr marL="0" indent="0">
              <a:spcBef>
                <a:spcPts val="600"/>
              </a:spcBef>
              <a:buNone/>
            </a:pPr>
            <a:r>
              <a:rPr lang="en-US" sz="2800" b="1">
                <a:latin typeface="FS PF BeauSans Pro" panose="02000500000000020004" pitchFamily="2" charset="0"/>
              </a:rPr>
              <a:t>Quản lý hồ sơ bệnh nhân:</a:t>
            </a:r>
          </a:p>
          <a:p>
            <a:pPr>
              <a:spcBef>
                <a:spcPts val="600"/>
              </a:spcBef>
            </a:pPr>
            <a:r>
              <a:rPr lang="en-US" sz="2400">
                <a:latin typeface="FS PF BeauSans Pro" panose="02000500000000020004" pitchFamily="2" charset="0"/>
              </a:rPr>
              <a:t>Thêm, sửa, xóa hồ sơ</a:t>
            </a:r>
          </a:p>
          <a:p>
            <a:pPr>
              <a:spcBef>
                <a:spcPts val="600"/>
              </a:spcBef>
            </a:pPr>
            <a:r>
              <a:rPr lang="en-US" sz="2400">
                <a:latin typeface="FS PF BeauSans Pro" panose="02000500000000020004" pitchFamily="2" charset="0"/>
              </a:rPr>
              <a:t>Tìm kiếm theo tên hoặc số điện thoại</a:t>
            </a:r>
          </a:p>
          <a:p>
            <a:pPr>
              <a:spcBef>
                <a:spcPts val="600"/>
              </a:spcBef>
            </a:pPr>
            <a:r>
              <a:rPr lang="en-US" sz="2400">
                <a:latin typeface="FS PF BeauSans Pro" panose="02000500000000020004" pitchFamily="2" charset="0"/>
              </a:rPr>
              <a:t>Xuất và nhập danh sách qua file CSV </a:t>
            </a:r>
          </a:p>
          <a:p>
            <a:pPr>
              <a:spcBef>
                <a:spcPts val="600"/>
              </a:spcBef>
            </a:pPr>
            <a:r>
              <a:rPr lang="en-US" sz="2400">
                <a:latin typeface="FS PF BeauSans Pro" panose="02000500000000020004" pitchFamily="2" charset="0"/>
              </a:rPr>
              <a:t>Sao lưu và phục hồi dữ liệu</a:t>
            </a:r>
          </a:p>
          <a:p>
            <a:pPr marL="0" indent="0">
              <a:spcBef>
                <a:spcPts val="600"/>
              </a:spcBef>
              <a:buNone/>
            </a:pPr>
            <a:r>
              <a:rPr lang="en-US" sz="2800" b="1">
                <a:latin typeface="FS PF BeauSans Pro" panose="02000500000000020004" pitchFamily="2" charset="0"/>
              </a:rPr>
              <a:t>Lịch tái khám:</a:t>
            </a:r>
          </a:p>
          <a:p>
            <a:pPr>
              <a:spcBef>
                <a:spcPts val="600"/>
              </a:spcBef>
            </a:pPr>
            <a:r>
              <a:rPr lang="en-US" sz="2400">
                <a:latin typeface="FS PF BeauSans Pro" panose="02000500000000020004" pitchFamily="2" charset="0"/>
              </a:rPr>
              <a:t>Đặt lịch nhanh cho bệnh nhân</a:t>
            </a:r>
          </a:p>
          <a:p>
            <a:pPr>
              <a:spcBef>
                <a:spcPts val="600"/>
              </a:spcBef>
            </a:pPr>
            <a:r>
              <a:rPr lang="en-US" sz="2400">
                <a:latin typeface="FS PF BeauSans Pro" panose="02000500000000020004" pitchFamily="2" charset="0"/>
              </a:rPr>
              <a:t>Phân biệt trạng thái quá hạn, hôm nay, sắp tới</a:t>
            </a:r>
          </a:p>
          <a:p>
            <a:pPr>
              <a:spcBef>
                <a:spcPts val="600"/>
              </a:spcBef>
            </a:pPr>
            <a:r>
              <a:rPr lang="en-US" sz="2400">
                <a:latin typeface="FS PF BeauSans Pro" panose="02000500000000020004" pitchFamily="2" charset="0"/>
              </a:rPr>
              <a:t>Tự động xóa lịch khi xóa bệnh nhân</a:t>
            </a:r>
          </a:p>
        </p:txBody>
      </p:sp>
      <p:sp>
        <p:nvSpPr>
          <p:cNvPr id="4" name="TextBox 3">
            <a:extLst>
              <a:ext uri="{FF2B5EF4-FFF2-40B4-BE49-F238E27FC236}">
                <a16:creationId xmlns:a16="http://schemas.microsoft.com/office/drawing/2014/main" id="{3432CD1B-468F-97B9-45FA-9B132EFA45A0}"/>
              </a:ext>
            </a:extLst>
          </p:cNvPr>
          <p:cNvSpPr txBox="1"/>
          <p:nvPr/>
        </p:nvSpPr>
        <p:spPr>
          <a:xfrm>
            <a:off x="6946232" y="1909011"/>
            <a:ext cx="4732420" cy="2385268"/>
          </a:xfrm>
          <a:prstGeom prst="rect">
            <a:avLst/>
          </a:prstGeom>
          <a:noFill/>
        </p:spPr>
        <p:txBody>
          <a:bodyPr wrap="square" rtlCol="0">
            <a:spAutoFit/>
          </a:bodyPr>
          <a:lstStyle/>
          <a:p>
            <a:pPr>
              <a:spcBef>
                <a:spcPts val="600"/>
              </a:spcBef>
            </a:pPr>
            <a:r>
              <a:rPr lang="en-US" sz="2400" b="1">
                <a:latin typeface="FS PF BeauSans Pro" panose="02000500000000020004" pitchFamily="2" charset="0"/>
              </a:rPr>
              <a:t>Thống kê và báo cáo:</a:t>
            </a:r>
          </a:p>
          <a:p>
            <a:pPr marL="285750" indent="-285750">
              <a:spcBef>
                <a:spcPts val="600"/>
              </a:spcBef>
              <a:buFont typeface="Arial" panose="020B0604020202020204" pitchFamily="34" charset="0"/>
              <a:buChar char="•"/>
            </a:pPr>
            <a:r>
              <a:rPr lang="en-US" sz="2000">
                <a:latin typeface="FS PF BeauSans Pro" panose="02000500000000020004" pitchFamily="2" charset="0"/>
              </a:rPr>
              <a:t>Biểu đồ phân bố giới tính </a:t>
            </a:r>
          </a:p>
          <a:p>
            <a:pPr marL="285750" indent="-285750">
              <a:spcBef>
                <a:spcPts val="600"/>
              </a:spcBef>
              <a:buFont typeface="Arial" panose="020B0604020202020204" pitchFamily="34" charset="0"/>
              <a:buChar char="•"/>
            </a:pPr>
            <a:r>
              <a:rPr lang="en-US" sz="2000">
                <a:latin typeface="FS PF BeauSans Pro" panose="02000500000000020004" pitchFamily="2" charset="0"/>
              </a:rPr>
              <a:t>Top bệnh phổ biến </a:t>
            </a:r>
          </a:p>
          <a:p>
            <a:pPr marL="285750" indent="-285750">
              <a:spcBef>
                <a:spcPts val="600"/>
              </a:spcBef>
              <a:buFont typeface="Arial" panose="020B0604020202020204" pitchFamily="34" charset="0"/>
              <a:buChar char="•"/>
            </a:pPr>
            <a:r>
              <a:rPr lang="en-US" sz="2000">
                <a:latin typeface="FS PF BeauSans Pro" panose="02000500000000020004" pitchFamily="2" charset="0"/>
              </a:rPr>
              <a:t>Phân loại chỉ số BMI</a:t>
            </a:r>
          </a:p>
          <a:p>
            <a:pPr marL="285750" indent="-285750">
              <a:spcBef>
                <a:spcPts val="600"/>
              </a:spcBef>
              <a:buFont typeface="Arial" panose="020B0604020202020204" pitchFamily="34" charset="0"/>
              <a:buChar char="•"/>
            </a:pPr>
            <a:r>
              <a:rPr lang="en-US" sz="2000">
                <a:latin typeface="FS PF BeauSans Pro" panose="02000500000000020004" pitchFamily="2" charset="0"/>
              </a:rPr>
              <a:t>Lượt khám theo từng tháng</a:t>
            </a:r>
          </a:p>
          <a:p>
            <a:pPr marL="285750" indent="-285750">
              <a:spcBef>
                <a:spcPts val="600"/>
              </a:spcBef>
              <a:buFont typeface="Arial" panose="020B0604020202020204" pitchFamily="34" charset="0"/>
              <a:buChar char="•"/>
            </a:pPr>
            <a:r>
              <a:rPr lang="en-US" sz="2000">
                <a:latin typeface="FS PF BeauSans Pro" panose="02000500000000020004" pitchFamily="2" charset="0"/>
              </a:rPr>
              <a:t>Xuất biểu đồ ra ảnh PNG</a:t>
            </a:r>
          </a:p>
        </p:txBody>
      </p:sp>
    </p:spTree>
    <p:extLst>
      <p:ext uri="{BB962C8B-B14F-4D97-AF65-F5344CB8AC3E}">
        <p14:creationId xmlns:p14="http://schemas.microsoft.com/office/powerpoint/2010/main" val="16222473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DB7BC-82F6-26E4-A2DE-FF08DCF83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C56E1-CFEB-AE8A-0F18-9501A34F9F5A}"/>
              </a:ext>
            </a:extLst>
          </p:cNvPr>
          <p:cNvSpPr>
            <a:spLocks noGrp="1"/>
          </p:cNvSpPr>
          <p:nvPr>
            <p:ph type="title"/>
          </p:nvPr>
        </p:nvSpPr>
        <p:spPr>
          <a:xfrm>
            <a:off x="907661" y="907302"/>
            <a:ext cx="10770991" cy="696909"/>
          </a:xfrm>
        </p:spPr>
        <p:txBody>
          <a:bodyPr/>
          <a:lstStyle/>
          <a:p>
            <a:r>
              <a:rPr lang="en-US"/>
              <a:t>KỸ THUẬT VÀ KẾT QUẢ</a:t>
            </a:r>
            <a:endParaRPr lang="en-US" dirty="0"/>
          </a:p>
        </p:txBody>
      </p:sp>
      <p:sp>
        <p:nvSpPr>
          <p:cNvPr id="3" name="Content Placeholder 2">
            <a:extLst>
              <a:ext uri="{FF2B5EF4-FFF2-40B4-BE49-F238E27FC236}">
                <a16:creationId xmlns:a16="http://schemas.microsoft.com/office/drawing/2014/main" id="{00CBD839-A439-7058-4BA6-2E8C59D4310F}"/>
              </a:ext>
            </a:extLst>
          </p:cNvPr>
          <p:cNvSpPr>
            <a:spLocks noGrp="1"/>
          </p:cNvSpPr>
          <p:nvPr>
            <p:ph sz="quarter" idx="14"/>
          </p:nvPr>
        </p:nvSpPr>
        <p:spPr>
          <a:xfrm>
            <a:off x="859536" y="1909011"/>
            <a:ext cx="10257643" cy="4363452"/>
          </a:xfrm>
        </p:spPr>
        <p:txBody>
          <a:bodyPr>
            <a:normAutofit fontScale="92500" lnSpcReduction="10000"/>
          </a:bodyPr>
          <a:lstStyle/>
          <a:p>
            <a:pPr marL="0" indent="0">
              <a:buNone/>
            </a:pPr>
            <a:r>
              <a:rPr lang="en-US" sz="2600" b="1">
                <a:latin typeface="FS PF BeauSans Pro" panose="02000500000000020004" pitchFamily="2" charset="0"/>
              </a:rPr>
              <a:t>Kỹ thuật nổi bật: </a:t>
            </a:r>
          </a:p>
          <a:p>
            <a:r>
              <a:rPr lang="en-US" sz="2200">
                <a:latin typeface="FS PF BeauSans Pro" panose="02000500000000020004" pitchFamily="2" charset="0"/>
              </a:rPr>
              <a:t>Tìm kiếm không dấu tiếng Việt — gõ "nguyen van" vẫn ra "Nguyễn Văn" </a:t>
            </a:r>
          </a:p>
          <a:p>
            <a:r>
              <a:rPr lang="en-US" sz="2200">
                <a:latin typeface="FS PF BeauSans Pro" panose="02000500000000020004" pitchFamily="2" charset="0"/>
              </a:rPr>
              <a:t>Xử lý đa luồng — ứng dụng không bị đơ khi tải dữ liệu lớn </a:t>
            </a:r>
          </a:p>
          <a:p>
            <a:r>
              <a:rPr lang="en-US" sz="2200">
                <a:latin typeface="FS PF BeauSans Pro" panose="02000500000000020004" pitchFamily="2" charset="0"/>
              </a:rPr>
              <a:t>Giao diện tự chuyển sáng/tối theo giờ hoặc theo cài đặt của máy</a:t>
            </a:r>
          </a:p>
          <a:p>
            <a:pPr marL="0" indent="0">
              <a:buNone/>
            </a:pPr>
            <a:r>
              <a:rPr lang="en-US" sz="2600" b="1">
                <a:latin typeface="FS PF BeauSans Pro" panose="02000500000000020004" pitchFamily="2" charset="0"/>
              </a:rPr>
              <a:t>Kết quả kiểm thử: </a:t>
            </a:r>
          </a:p>
          <a:p>
            <a:r>
              <a:rPr lang="en-US" sz="2200">
                <a:latin typeface="FS PF BeauSans Pro" panose="02000500000000020004" pitchFamily="2" charset="0"/>
              </a:rPr>
              <a:t>Chạy ổn định với 10.000 bệnh nhân </a:t>
            </a:r>
          </a:p>
          <a:p>
            <a:r>
              <a:rPr lang="en-US" sz="2200">
                <a:latin typeface="FS PF BeauSans Pro" panose="02000500000000020004" pitchFamily="2" charset="0"/>
              </a:rPr>
              <a:t>Tốc độ tải danh sách dưới 2 giây </a:t>
            </a:r>
          </a:p>
          <a:p>
            <a:r>
              <a:rPr lang="en-US" sz="2200">
                <a:latin typeface="FS PF BeauSans Pro" panose="02000500000000020004" pitchFamily="2" charset="0"/>
              </a:rPr>
              <a:t>Hoạt động tốt trên Windows, macOS và Linux</a:t>
            </a:r>
          </a:p>
        </p:txBody>
      </p:sp>
    </p:spTree>
    <p:extLst>
      <p:ext uri="{BB962C8B-B14F-4D97-AF65-F5344CB8AC3E}">
        <p14:creationId xmlns:p14="http://schemas.microsoft.com/office/powerpoint/2010/main" val="26682564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B7158-F26E-8BFB-7B85-AF59690B2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07C7D-4A49-3E53-F710-3D65E5832DF6}"/>
              </a:ext>
            </a:extLst>
          </p:cNvPr>
          <p:cNvSpPr>
            <a:spLocks noGrp="1"/>
          </p:cNvSpPr>
          <p:nvPr>
            <p:ph type="title"/>
          </p:nvPr>
        </p:nvSpPr>
        <p:spPr>
          <a:xfrm>
            <a:off x="907661" y="907302"/>
            <a:ext cx="10770991" cy="696909"/>
          </a:xfrm>
        </p:spPr>
        <p:txBody>
          <a:bodyPr/>
          <a:lstStyle/>
          <a:p>
            <a:r>
              <a:rPr lang="en-US"/>
              <a:t>KẾT LUẬN</a:t>
            </a:r>
            <a:endParaRPr lang="en-US" dirty="0"/>
          </a:p>
        </p:txBody>
      </p:sp>
      <p:sp>
        <p:nvSpPr>
          <p:cNvPr id="3" name="Content Placeholder 2">
            <a:extLst>
              <a:ext uri="{FF2B5EF4-FFF2-40B4-BE49-F238E27FC236}">
                <a16:creationId xmlns:a16="http://schemas.microsoft.com/office/drawing/2014/main" id="{00F10A64-535D-0AA7-5600-300CF2559F6D}"/>
              </a:ext>
            </a:extLst>
          </p:cNvPr>
          <p:cNvSpPr>
            <a:spLocks noGrp="1"/>
          </p:cNvSpPr>
          <p:nvPr>
            <p:ph sz="quarter" idx="14"/>
          </p:nvPr>
        </p:nvSpPr>
        <p:spPr>
          <a:xfrm>
            <a:off x="907661" y="1732548"/>
            <a:ext cx="5188339" cy="4363452"/>
          </a:xfrm>
        </p:spPr>
        <p:txBody>
          <a:bodyPr>
            <a:noAutofit/>
          </a:bodyPr>
          <a:lstStyle/>
          <a:p>
            <a:pPr marL="0" indent="0">
              <a:lnSpc>
                <a:spcPct val="100000"/>
              </a:lnSpc>
              <a:spcBef>
                <a:spcPts val="0"/>
              </a:spcBef>
              <a:buNone/>
            </a:pPr>
            <a:r>
              <a:rPr lang="en-US" sz="2400" b="1">
                <a:latin typeface="FS PF BeauSans Pro" panose="02000500000000020004" pitchFamily="2" charset="0"/>
              </a:rPr>
              <a:t>Kết quả đạt được</a:t>
            </a:r>
          </a:p>
          <a:p>
            <a:pPr>
              <a:lnSpc>
                <a:spcPct val="100000"/>
              </a:lnSpc>
              <a:spcBef>
                <a:spcPts val="0"/>
              </a:spcBef>
            </a:pPr>
            <a:r>
              <a:rPr lang="vi-VN" sz="1800">
                <a:latin typeface="FS PF BeauSans Pro" panose="02000500000000020004" pitchFamily="2" charset="0"/>
              </a:rPr>
              <a:t>Ứng dụng hoàn thành đủ 3 chức năng: quản lý hồ sơ, thống kê và lịch tái khám </a:t>
            </a:r>
          </a:p>
          <a:p>
            <a:pPr>
              <a:lnSpc>
                <a:spcPct val="100000"/>
              </a:lnSpc>
              <a:spcBef>
                <a:spcPts val="0"/>
              </a:spcBef>
            </a:pPr>
            <a:r>
              <a:rPr lang="vi-VN" sz="1800">
                <a:latin typeface="FS PF BeauSans Pro" panose="02000500000000020004" pitchFamily="2" charset="0"/>
              </a:rPr>
              <a:t>Chạy mượt với 10.000 bệnh nhân, tải danh sách dưới 2 giây</a:t>
            </a:r>
          </a:p>
          <a:p>
            <a:pPr>
              <a:lnSpc>
                <a:spcPct val="100000"/>
              </a:lnSpc>
              <a:spcBef>
                <a:spcPts val="0"/>
              </a:spcBef>
            </a:pPr>
            <a:r>
              <a:rPr lang="en-US" sz="1800">
                <a:latin typeface="FS PF BeauSans Pro" panose="02000500000000020004" pitchFamily="2" charset="0"/>
              </a:rPr>
              <a:t>H</a:t>
            </a:r>
            <a:r>
              <a:rPr lang="vi-VN" sz="1800">
                <a:latin typeface="FS PF BeauSans Pro" panose="02000500000000020004" pitchFamily="2" charset="0"/>
              </a:rPr>
              <a:t>oạt động ổn định trên Windows</a:t>
            </a:r>
            <a:r>
              <a:rPr lang="en-US" sz="1800">
                <a:latin typeface="FS PF BeauSans Pro" panose="02000500000000020004" pitchFamily="2" charset="0"/>
              </a:rPr>
              <a:t> </a:t>
            </a:r>
            <a:r>
              <a:rPr lang="vi-VN" sz="1800">
                <a:latin typeface="FS PF BeauSans Pro" panose="02000500000000020004" pitchFamily="2" charset="0"/>
              </a:rPr>
              <a:t>và Linux</a:t>
            </a:r>
            <a:endParaRPr lang="en-US" sz="1800">
              <a:latin typeface="FS PF BeauSans Pro" panose="02000500000000020004" pitchFamily="2" charset="0"/>
            </a:endParaRPr>
          </a:p>
          <a:p>
            <a:pPr marL="0" indent="0">
              <a:lnSpc>
                <a:spcPct val="100000"/>
              </a:lnSpc>
              <a:spcBef>
                <a:spcPts val="0"/>
              </a:spcBef>
              <a:buNone/>
            </a:pPr>
            <a:r>
              <a:rPr lang="en-US" sz="2400" b="1">
                <a:latin typeface="FS PF BeauSans Pro" panose="02000500000000020004" pitchFamily="2" charset="0"/>
              </a:rPr>
              <a:t>Bài học rút ra</a:t>
            </a:r>
            <a:endParaRPr lang="en-US" sz="2400">
              <a:latin typeface="FS PF BeauSans Pro" panose="02000500000000020004" pitchFamily="2" charset="0"/>
            </a:endParaRPr>
          </a:p>
          <a:p>
            <a:pPr>
              <a:lnSpc>
                <a:spcPct val="100000"/>
              </a:lnSpc>
              <a:spcBef>
                <a:spcPts val="0"/>
              </a:spcBef>
            </a:pPr>
            <a:r>
              <a:rPr lang="en-US" sz="1800">
                <a:latin typeface="FS PF BeauSans Pro" panose="02000500000000020004" pitchFamily="2" charset="0"/>
              </a:rPr>
              <a:t>Nhờ chia code thành 3 tầng MVC, hạn chế bị rối khi sửa giao diện gây ra làm hỏng phần xử lý dữ liệu và ngược lại</a:t>
            </a:r>
          </a:p>
          <a:p>
            <a:pPr>
              <a:lnSpc>
                <a:spcPct val="100000"/>
              </a:lnSpc>
              <a:spcBef>
                <a:spcPts val="0"/>
              </a:spcBef>
            </a:pPr>
            <a:r>
              <a:rPr lang="en-US" sz="1800">
                <a:latin typeface="FS PF BeauSans Pro" panose="02000500000000020004" pitchFamily="2" charset="0"/>
              </a:rPr>
              <a:t>Khi thao tác với dữ liệu lớn, chạy ở luồng riêng giúp cửa sổ không bị đơ — kết quả xong mới cập nhật lại giao diện</a:t>
            </a:r>
          </a:p>
          <a:p>
            <a:pPr>
              <a:lnSpc>
                <a:spcPct val="100000"/>
              </a:lnSpc>
              <a:spcBef>
                <a:spcPts val="0"/>
              </a:spcBef>
            </a:pPr>
            <a:r>
              <a:rPr lang="en-US" sz="1800">
                <a:latin typeface="FS PF BeauSans Pro" panose="02000500000000020004" pitchFamily="2" charset="0"/>
              </a:rPr>
              <a:t>Đăng ký hàm bỏ dấu tiếng Việt trực tiếp vào SQLite giúp tìm kiếm nhanh mà không cần xử lý thêm ở tầng Python</a:t>
            </a:r>
          </a:p>
        </p:txBody>
      </p:sp>
      <p:sp>
        <p:nvSpPr>
          <p:cNvPr id="4" name="TextBox 3">
            <a:extLst>
              <a:ext uri="{FF2B5EF4-FFF2-40B4-BE49-F238E27FC236}">
                <a16:creationId xmlns:a16="http://schemas.microsoft.com/office/drawing/2014/main" id="{8ECD5BFB-E803-E2A8-2673-C664466231A6}"/>
              </a:ext>
            </a:extLst>
          </p:cNvPr>
          <p:cNvSpPr txBox="1"/>
          <p:nvPr/>
        </p:nvSpPr>
        <p:spPr>
          <a:xfrm>
            <a:off x="6497053" y="1604211"/>
            <a:ext cx="4973052" cy="4154984"/>
          </a:xfrm>
          <a:prstGeom prst="rect">
            <a:avLst/>
          </a:prstGeom>
          <a:noFill/>
        </p:spPr>
        <p:txBody>
          <a:bodyPr wrap="square" rtlCol="0">
            <a:spAutoFit/>
          </a:bodyPr>
          <a:lstStyle/>
          <a:p>
            <a:r>
              <a:rPr lang="en-US" sz="2400" b="1">
                <a:latin typeface="FS PF BeauSans Pro" panose="02000500000000020004" pitchFamily="2" charset="0"/>
              </a:rPr>
              <a:t>Hạn chế hiện tại</a:t>
            </a:r>
            <a:endParaRPr lang="en-US" sz="2400">
              <a:latin typeface="FS PF BeauSans Pro" panose="02000500000000020004" pitchFamily="2" charset="0"/>
            </a:endParaRPr>
          </a:p>
          <a:p>
            <a:pPr marL="285750" indent="-285750">
              <a:buFont typeface="Arial" panose="020B0604020202020204" pitchFamily="34" charset="0"/>
              <a:buChar char="•"/>
            </a:pPr>
            <a:r>
              <a:rPr lang="en-US">
                <a:latin typeface="FS PF BeauSans Pro" panose="02000500000000020004" pitchFamily="2" charset="0"/>
              </a:rPr>
              <a:t>Chưa có đăng nhập — ai cũng vào được nếu mở được máy</a:t>
            </a:r>
          </a:p>
          <a:p>
            <a:pPr marL="285750" indent="-285750">
              <a:buFont typeface="Arial" panose="020B0604020202020204" pitchFamily="34" charset="0"/>
              <a:buChar char="•"/>
            </a:pPr>
            <a:r>
              <a:rPr lang="en-US">
                <a:latin typeface="FS PF BeauSans Pro" panose="02000500000000020004" pitchFamily="2" charset="0"/>
              </a:rPr>
              <a:t>Biểu đồ chỉ xem được, chưa zoom hay di chuột để xem chi tiết </a:t>
            </a:r>
          </a:p>
          <a:p>
            <a:pPr marL="285750" indent="-285750">
              <a:buFont typeface="Arial" panose="020B0604020202020204" pitchFamily="34" charset="0"/>
              <a:buChar char="•"/>
            </a:pPr>
            <a:r>
              <a:rPr lang="en-US">
                <a:latin typeface="FS PF BeauSans Pro" panose="02000500000000020004" pitchFamily="2" charset="0"/>
              </a:rPr>
              <a:t>Chỉ dùng được cho một phòng khám, chưa dùng chung được</a:t>
            </a:r>
          </a:p>
          <a:p>
            <a:r>
              <a:rPr lang="en-US" sz="2400" b="1">
                <a:latin typeface="FS PF BeauSans Pro" panose="02000500000000020004" pitchFamily="2" charset="0"/>
              </a:rPr>
              <a:t>Hướng phát triển</a:t>
            </a:r>
            <a:endParaRPr lang="en-US" sz="2400">
              <a:latin typeface="FS PF BeauSans Pro" panose="02000500000000020004" pitchFamily="2" charset="0"/>
            </a:endParaRPr>
          </a:p>
          <a:p>
            <a:pPr marL="285750" indent="-285750">
              <a:buFont typeface="Arial" panose="020B0604020202020204" pitchFamily="34" charset="0"/>
              <a:buChar char="•"/>
            </a:pPr>
            <a:r>
              <a:rPr lang="en-US">
                <a:latin typeface="FS PF BeauSans Pro" panose="02000500000000020004" pitchFamily="2" charset="0"/>
              </a:rPr>
              <a:t>Thêm đăng nhập với các vai trò: bác sĩ, y tá, quản trị viên </a:t>
            </a:r>
          </a:p>
          <a:p>
            <a:pPr marL="285750" indent="-285750">
              <a:buFont typeface="Arial" panose="020B0604020202020204" pitchFamily="34" charset="0"/>
              <a:buChar char="•"/>
            </a:pPr>
            <a:r>
              <a:rPr lang="en-US">
                <a:latin typeface="FS PF BeauSans Pro" panose="02000500000000020004" pitchFamily="2" charset="0"/>
              </a:rPr>
              <a:t>Tự động nhắc lịch tái khám qua email hoặc SMS </a:t>
            </a:r>
          </a:p>
          <a:p>
            <a:pPr marL="285750" indent="-285750">
              <a:buFont typeface="Arial" panose="020B0604020202020204" pitchFamily="34" charset="0"/>
              <a:buChar char="•"/>
            </a:pPr>
            <a:r>
              <a:rPr lang="en-US">
                <a:latin typeface="FS PF BeauSans Pro" panose="02000500000000020004" pitchFamily="2" charset="0"/>
              </a:rPr>
              <a:t>Hỗ trợ đa cơ sở trên nền tảng cơ sở dữ liệu tập trung</a:t>
            </a:r>
          </a:p>
        </p:txBody>
      </p:sp>
    </p:spTree>
    <p:extLst>
      <p:ext uri="{BB962C8B-B14F-4D97-AF65-F5344CB8AC3E}">
        <p14:creationId xmlns:p14="http://schemas.microsoft.com/office/powerpoint/2010/main" val="6729683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{F7B5E6A6-FD50-413C-920F-9DAB33CCBE51}f4c2fa09-5552-4190-875c-1979579583e2-TFc553d604-a3b6-4c52-b2ed-3a769335c0fd_win32</Template>
  <TotalTime>81</TotalTime>
  <Words>698</Words>
  <Application>Microsoft Office PowerPoint</Application>
  <PresentationFormat>Widescreen</PresentationFormat>
  <Paragraphs>57</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FS PF BeauSans Pro</vt:lpstr>
      <vt:lpstr>Lora</vt:lpstr>
      <vt:lpstr>Playfair Display Black</vt:lpstr>
      <vt:lpstr>Aptos</vt:lpstr>
      <vt:lpstr>Arial</vt:lpstr>
      <vt:lpstr>Poppins Light</vt:lpstr>
      <vt:lpstr>Gradient Circle</vt:lpstr>
      <vt:lpstr>Xây Dựng Hệ Thống Quản Lý Hồ Sơ Bệnh Nhân Sử Dụng Python và Mô Hình Kiến Trúc MVC</vt:lpstr>
      <vt:lpstr>Tổng Quan Đề Tài</vt:lpstr>
      <vt:lpstr>Kiến Trúc Hệ Thống – Mô Hình MVC</vt:lpstr>
      <vt:lpstr>CHỨC NĂNG CHÍNH</vt:lpstr>
      <vt:lpstr>KỸ THUẬT VÀ KẾT QUẢ</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Tux</dc:creator>
  <cp:lastModifiedBy>Tux</cp:lastModifiedBy>
  <cp:revision>3</cp:revision>
  <dcterms:created xsi:type="dcterms:W3CDTF">2026-06-08T01:28:15Z</dcterms:created>
  <dcterms:modified xsi:type="dcterms:W3CDTF">2026-06-08T02:50:59Z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